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D98BA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· AX전략팀  |  검토용 초안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057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’26년 MS본부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AX 추진전략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9C9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AX로 수익구조를 혁신한다  ·  대외 공유용 — 경영 수치 마스킹본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52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2026. 07     ·     AX/데이터플랫폼실 AX전략팀     ·     v2.2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01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왜 지금 다시 AX인가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02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AX의 정의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03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목표 — 신뢰도 높은 성과 목표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04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대표과제 전체 구조 (손익·밸류체인)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05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과제별 추진 내용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06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공백영역과 신규 발굴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07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실행모델과 전환체계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08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검증·평가체계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09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기반 — 데이터와 플랫폼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10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AX/데이터플랫폼실의 역할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11   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로드맵과 종착점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01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왜 지금 다시 AX인가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55096" cy="786384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17320"/>
            <a:ext cx="45720" cy="786384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35608"/>
            <a:ext cx="10652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AX Rewiring이라는 지향점 아래, 사업성과에 직결되는 실행력을 위한 추진체계에 집중합니다.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423160"/>
            <a:ext cx="2592324" cy="1051560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542032"/>
            <a:ext cx="24094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△비공개억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8368" y="3072384"/>
            <a:ext cx="240944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’25 영업이익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7852" y="2423160"/>
            <a:ext cx="2592324" cy="1051560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11" name="Text 9"/>
          <p:cNvSpPr/>
          <p:nvPr/>
        </p:nvSpPr>
        <p:spPr>
          <a:xfrm>
            <a:off x="3479292" y="2542032"/>
            <a:ext cx="24094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△비공개억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479292" y="3072384"/>
            <a:ext cx="240944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’26 계획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2423160"/>
            <a:ext cx="2592324" cy="1051560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0216" y="2542032"/>
            <a:ext cx="24094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+비공개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300216" y="3072384"/>
            <a:ext cx="240944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한계돌파 목표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29700" y="2423160"/>
            <a:ext cx="2592324" cy="1051560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17" name="Text 15"/>
          <p:cNvSpPr/>
          <p:nvPr/>
        </p:nvSpPr>
        <p:spPr>
          <a:xfrm>
            <a:off x="9121140" y="2542032"/>
            <a:ext cx="24094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+비공개억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121140" y="3072384"/>
            <a:ext cx="240944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1Q 실적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749040"/>
            <a:ext cx="11055096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AI 기술 급변 — 새 전략 수립보다 기존 방향(AX Rewiring)의 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더 빠른 추진이 관건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턴어라운드의 지속은 결국 원가의 싸움 → 원가의 구조를 바꾸는 수단이 AX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하반기 비용 압력 3종: 메모리 급등 / 해상물류비 10%↑ / 관세·환율 — 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흑자를 구조로 정착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결정적 장면: 회로도·PCB 검증 24시간 → 2시간 = 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"불가능 → 가능"의 전환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02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AX의 정의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55096" cy="786384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17320"/>
            <a:ext cx="45720" cy="786384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35608"/>
            <a:ext cx="10652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MS본부의 AX는 사업의 복잡도 증가에 따라 증가하는 현재의 원가 구조를 AX를 통해 해결하는 ‘수익구조 혁신’입니다.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14600"/>
          <a:ext cx="1105509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5628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기능</a:t>
                      </a: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기존 구조</a:t>
                      </a: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바뀌는 구조</a:t>
                      </a: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개발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복잡도에 비례한 개발비 증가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AI의 복잡도 흡수 — 개발비 고정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구매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협상력 = 경험과 시간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데이터 기반 원가 분석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SCM·물류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외부 변수에 끌려다니는 비용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실시간 추적 기반의 관리 가능한 비용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마케팅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집행량 = 효과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정확도 = 효과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영업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커버리지 = 매출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전환율 = 매출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486400"/>
            <a:ext cx="11055096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과제 이분법: 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변환형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(업무 방식을 바꿔 손익을 움직임) vs 효율형(속도 개선) → 대표과제는 변환형 중심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03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목표 — 신뢰도 높은 성과 목표 수립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55096" cy="786384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17320"/>
            <a:ext cx="45720" cy="786384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35608"/>
            <a:ext cx="10652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기존 경영기여효과 관리체계의 기준을 재정비하여, 보다 신뢰도 높은 성과 목표를 수립하겠습니다.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68880"/>
          <a:ext cx="11055096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29968"/>
                <a:gridCol w="2029968"/>
                <a:gridCol w="2029968"/>
                <a:gridCol w="2039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구분</a:t>
                      </a: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Tier 1 확정</a:t>
                      </a: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Tier 2 추정</a:t>
                      </a: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Tier 3 방향성</a:t>
                      </a: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합계</a:t>
                      </a: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손익 직접 (억원)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공수 절감 (억원)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계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572000"/>
            <a:ext cx="11055096" cy="1097280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4617720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Tier 1 확정 비공개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만으로 흑자 전환 목표(+비공개)의 </a:t>
            </a:r>
            <a:pPr algn="l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2/3 규모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  ·  손익 직접효과 비공개 = 계획-한계돌파 갭(비공개억)의 1/4 → AX는 본부 흑자 전환의 성패가 걸린 규모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04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HOW — 대표과제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대표과제 전체 구조 — 두 관점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731520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71600"/>
            <a:ext cx="45720" cy="731520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389888"/>
            <a:ext cx="10652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같은 7대 과제를 두 렌즈로 봅니다. 손익 계정이 어떻게 움직이는가(손익 구조)와, 밸류체인 어느 기능에서 실행되는가(실행 구조).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3246120" cy="45720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3317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매출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78892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98648"/>
            <a:ext cx="295351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HW (Device)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규모의 사업 · 매출차감 구조</a:t>
            </a:r>
            <a:endParaRPr lang="en-US" sz="1300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질적성장 비공개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B2B · Non-HW(webOS) · D2C — 고마진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36008" y="2331720"/>
            <a:ext cx="3246120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3317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(−) 비용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36008" y="278892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898648"/>
            <a:ext cx="295351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변동비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재료비 중심 — 복잡도가 원가를 밀어올림</a:t>
            </a:r>
            <a:endParaRPr lang="en-US" sz="1300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고정비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인건비 · 광고비 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05088" y="2331720"/>
            <a:ext cx="3246120" cy="457200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16" name="Text 14"/>
          <p:cNvSpPr/>
          <p:nvPr/>
        </p:nvSpPr>
        <p:spPr>
          <a:xfrm>
            <a:off x="8833104" y="23317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(=) 영업이익  비공개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05088" y="278892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51392" y="2898648"/>
            <a:ext cx="295351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6월 실적 · 비공개억</a:t>
            </a:r>
            <a:endParaRPr lang="en-US" sz="1300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종착점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시황에도 안정적으로 수익 내는 구조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1336" y="2697480"/>
            <a:ext cx="7863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900416" y="2697480"/>
            <a:ext cx="7863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=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66928" y="4800600"/>
            <a:ext cx="11055096" cy="566928"/>
          </a:xfrm>
          <a:prstGeom prst="rect">
            <a:avLst/>
          </a:prstGeom>
          <a:solidFill>
            <a:srgbClr val="FDF5F8"/>
          </a:solidFill>
          <a:ln w="12700">
            <a:solidFill>
              <a:srgbClr val="A5003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49808" y="4818888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AX가 겨누는 지점 — 사업 복잡도가 올라가도 </a:t>
            </a:r>
            <a:pPr algn="l" indent="0" marL="0">
              <a:buNone/>
            </a:pPr>
            <a:r>
              <a:rPr lang="en-US" sz="13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원가(변동비)가 따라 오르지 않는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 구조. 매출 성장은 사업의 몫, AX의 ’26년 기여는 비용 측에 집중.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04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관점 1 · 손익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손익 계정으로 펼치면 (본부 6월 실적)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55096" cy="914400"/>
        </p:xfrm>
        <a:graphic>
          <a:graphicData uri="http://schemas.openxmlformats.org/drawingml/2006/table">
            <a:tbl>
              <a:tblPr/>
              <a:tblGrid>
                <a:gridCol w="3095427"/>
                <a:gridCol w="1768815"/>
                <a:gridCol w="6190854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손익 계정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금액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비고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총매출 (Gross)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HW · 질적성장 (구성비 마스킹)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(−) 매출차감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 (가격성 판촉·Sell-out 지원·현금할인)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B4F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= 순매출 (Net)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Top line / Bottom line 경계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(−) 재료비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 (총매출) / 비공개 (순매출)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(−) 변동 O/H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변동비 구성 (구성비 마스킹)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6B4F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= 한계이익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(−) 고정비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2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인건비·광고비·경시비·지급수수료·기타 (구성비 마스킹)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= 영업이익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3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DDDDD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실적·구성비 수치 출처 = ’26. 7월 MS본부 경영회의 자료(6월 마감 기준). 단위 억원. 재료비는 순매출 대비 비공개를 총매출 기준 비공개로 표기.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04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관점 1 · 손익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손익 계정 × AX 과제 매핑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55096" cy="914400"/>
        </p:xfrm>
        <a:graphic>
          <a:graphicData uri="http://schemas.openxmlformats.org/drawingml/2006/table">
            <a:tbl>
              <a:tblPr/>
              <a:tblGrid>
                <a:gridCol w="2100468"/>
                <a:gridCol w="1105510"/>
                <a:gridCol w="3979835"/>
                <a:gridCol w="1216061"/>
                <a:gridCol w="2653223"/>
              </a:tblGrid>
              <a:tr h="18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손익 계정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6월 실적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연결 AX 과제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’26 목표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주관 · 정합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매출구조 (Top line)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매출차감 (가격성)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① 판가·판촉·Mix — 유통재고·52주 판촉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 — 귀속 협의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질적성장 매출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플랫폼 인벤토리·구독 (신규)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’27 확장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플랫폼사업센터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비용구조 — 변동비 (Bottom line)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재료비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③ 구매 CI — 법인간 재료비 差·구매 인텔리전스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경영관리·구매 — VI 정합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변동O/H · 물류비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약 700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⑤ 재고·물동 E2E (신규 1순위)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비공개→↑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경영관리·SCM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변동O/H · 서비스비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약 140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⑥ 품질·서비스 — 자가진단 수리혁신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경영관리·CS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비용구조 — 고정비 / 신설 (Bottom line)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고정비 · 광고비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② 마케팅·CX — LOMA 광고비 (실측 1호)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경영관리·마케팅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고정비 · 개발/간접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—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④ 개발 CI — SW 생산성·테스트 자동화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 — 개발 VI 정합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고정비 · 스태프/간접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—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⑦ 전사 체질개선 — AI-Readable·AI Tool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소액 329건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AX실·인사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AI 운영비용 (신설)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신설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투자 ROI 관리 (기준 협의)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(비용)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444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경영관리 — 계정 신설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합계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7대 과제 · 444건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A50034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비공개억</a:t>
                      </a:r>
                      <a:endParaRPr lang="en-US" sz="10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신뢰도 등급 별도(3장)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17220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경영관리담당께 요청 = 금액이 아니라 기준: </a:t>
            </a:r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①재료비 VI 정합(개발 VI 비공개·구매 VI 메모리外 +비공개) ②개발공수 비공개 환산 ③매출차감 귀속 ④물류비 라인 ⑤AI 운영비용 신설·순액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04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관점 2 · 실행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밸류체인으로 본 실행 주체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같은 7대 과제를 밸류체인 관점에서 — 어느 기능에서 누가 실행하는지. 손익 계정(관점 1)과 실행 기능(관점 2)이 만나는 지점이 대표과제입니다.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11055096" cy="914400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개발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구매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생산·SCM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마케팅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영업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품질·서비스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④ 개발 CI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③ 구매 CI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⑤ 재고·수율 E2E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비공개→공백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② 마케팅·CX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① 판가·판촉·Mix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⑥ 품질·서비스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비공개</a:t>
                      </a:r>
                      <a:endParaRPr lang="en-US" sz="110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PCB 검증 24H→2H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법인간 재료비 差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재고 E2E (신규)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LOMA 광고비(실측1호)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CPSI 유통재고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자가진단 수리혁신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설계·도면 자동생성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구매 인텔리전스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제조 수율 (신규)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콘텐츠 제작 자동화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52주 판촉계획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VOC 개선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테스트 자동화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원소재 도착가 시뮬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물동·물류비 (신규)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가격·RM (’27)</a:t>
                      </a: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931920"/>
            <a:ext cx="11055096" cy="457200"/>
          </a:xfrm>
          <a:prstGeom prst="rect">
            <a:avLst/>
          </a:prstGeom>
          <a:solidFill>
            <a:srgbClr val="FAF9F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31920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⑦ 전사 체질개선 레이어 — AI-Readable 데이터 전환 · 구성원 AI Tool 활용 체계 · Squad 중심의 실행력 기반 AX전환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6928" y="4434840"/>
            <a:ext cx="11055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실선 = 기발굴(’26 착수) · 점선(기울임) = 신규 발굴·’27 확장 · 금액 = ’26 경영기여 목표(억원)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05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HOW — 대표과제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과제별 추진 내용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① 판가·판촉·Mix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44368" y="1554480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유통재고·판촉을 ‘감’이 아닌 52주 예측 운영으로 전환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57984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157984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② 마케팅·CX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44368" y="2157984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집행량이 아닌 정확도. LOMA 광고비 직접 절감 — 실측 확보 1순위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761488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76148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③ 구매 CI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44368" y="2761488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법인간 재료비 편차의 데이터 기반 소거, 원소재 도착가 시뮬레이션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364992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36499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④ 개발 CI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44368" y="3364992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PCB 검증 92% 단축, 설계·도면 자동생성, 테스트 자동화 — ‘복잡도 흡수’의 본진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968496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96849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⑤ 생산·SCM·재고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44368" y="3968496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현재 공백 — 재고·물동 End-to-End로 신규 설계 (6장)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572000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57200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⑥ 품질·서비스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44368" y="4572000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실패비용의 사전 차단 — VOC·Log 기반 개선, 자가진단 수리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175504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175504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⑦ 전사 체질개선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44368" y="5175504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AI-Readable 데이터 · AI Tool 활용 체계 · Squad 중심 실행 (7장 연결)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779008"/>
            <a:ext cx="1105509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58704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과제별 개선목표 수치·담당 임원은 협의 중 (확정 예정)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06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HOW — 대표과제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공백영역과 신규 발굴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55096" cy="786384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17320"/>
            <a:ext cx="45720" cy="786384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35608"/>
            <a:ext cx="10652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본부 원가구조 전 계정 기준으로 과제 공백을 진단하고, 병목 해소를 통해 신규 과제로 발굴합니다. 감이 아닌 스캔 — 분기별 상시 프로세스.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1460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4297680"/>
                <a:gridCol w="209397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공백 영역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손익 계정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444건 점검 결과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병목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재고·물동 E2E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장기재고·물류비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재고 대부분이 유통재고 1건 — 생산·자재 재고·운임 공백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조직 경계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제조 수율·라인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가공비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유의미 과제 사실상 전무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해외 현장·데이터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가격·Revenue Mgmt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매출 단가·믹스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가격 모니터링 8건뿐, 최적화 전무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민감영역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환율·헤지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매출·재료비 환영향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전무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LG Smart_H2.0" pitchFamily="34" charset="0"/>
                          <a:ea typeface="LG Smart_H2.0" pitchFamily="34" charset="-122"/>
                          <a:cs typeface="LG Smart_H2.0" pitchFamily="34" charset="-120"/>
                        </a:rPr>
                        <a:t>민감영역</a:t>
                      </a:r>
                      <a:endParaRPr lang="en-US" sz="1150" dirty="0">
                        <a:latin typeface="LG Smart_H2.0" charset="0"/>
                        <a:ea typeface="LG Smart_H2.0" charset="0"/>
                        <a:cs typeface="LG Smart_H2.0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029200"/>
            <a:ext cx="11055096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재고·물동 E2E (신규 1순위) — 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장기재고 비공개/목표 2.0%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. 해상운임은 수개월 전 수요예측 기반 선계약, 예측 초과분은 스팟 조달로 비용 급증. 전사 물류계약은 본사 주관 → 조직 경계 병목의 대표</a:t>
            </a:r>
            <a:endParaRPr lang="en-US" sz="125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제조 수율 — 하반기 해외 1개 법인 파일럿  /  가격·RM — ’26 데이터 구축 → ’27 최적화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07 · 08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HOW — 실행체계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실행모델·전환체계와 검증·평가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실행모델 — 이원 트랙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3949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자율 트랙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 — 역량 충분 조직: 데이터·플랫폼·방법론 지원, 실행 위임</a:t>
            </a:r>
            <a:endParaRPr lang="en-US" sz="125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Squad 트랙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 — 전략·미진 조직: 현업 리더 + AX실 목적형 팀, 성과까지 동반</a:t>
            </a:r>
            <a:endParaRPr lang="en-US" sz="125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전환체계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 — 공수 절감 비공개 = ‘전환 대기 역량’. AX 전환에 따른 조직의 역할 및 업무·인력 재편까지 설계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550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검증·평가체계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783080"/>
            <a:ext cx="5266944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산출공식 통일(A 공수·B 직접비·C 손실방지) + 사전·사후 실측</a:t>
            </a:r>
            <a:endParaRPr lang="en-US" sz="125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VI 체계 정합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 — 구매·재료비 효과는 본부 VI(비공개·비공개)와 중복 소지 → AX 기여분 별도 표기(이중계상 차단)</a:t>
            </a:r>
            <a:endParaRPr lang="en-US" sz="125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실측 1호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 — LOMA 광고비, ’26 3분기 내 확보  /  ROI 분모 확보 위해 투자비 8월 일제 조사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937760"/>
            <a:ext cx="11055096" cy="1234440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4983480"/>
            <a:ext cx="10652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지주사 AX 평가 관점 대응 — 도전의 크기(2·4장) / 실행 속도(7·11장) / 성과 창출(3·8장) / 큰 과제 발굴(4·6장). 평가에 대응이 아니라, 설계가 이미 그 관점을 담고 있음을 보인다.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09 · 10 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기반 / 역할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데이터·플랫폼과 AX실의 역할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기반 — 데이터와 플랫폼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3949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일곱 과제가 각자 Agent를 만들어도, 지식·데이터는 하나의 허브에 축적</a:t>
            </a:r>
            <a:endParaRPr lang="en-US" sz="125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공통 허브: 단일 기준정보 + AI-Readable 데이터 → 과제가 늘수록 자산 축적</a:t>
            </a:r>
            <a:endParaRPr lang="en-US" sz="125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MSDP·Agent 운영 플랫폼 고도화, 원가·손익·BOM·품질 데이터 AI Readable화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550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AX/데이터플랫폼실의 역할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783080"/>
            <a:ext cx="5266944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Agent를 만드는 조직이 아니라, 경영과제를 AX과제로 전환하고 성과까지 책임</a:t>
            </a:r>
            <a:endParaRPr lang="en-US" sz="125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3대 역할: 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전략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(방향·지표) / 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실행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(현업 동반) / 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A50034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확산</a:t>
            </a:r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(방법론 전파)</a:t>
            </a:r>
            <a:endParaRPr lang="en-US" sz="1250" dirty="0"/>
          </a:p>
          <a:p>
            <a:pPr algn="l" marL="203200" indent="-2032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없으면 안 되는 것: 공백 발굴 / 손익 측정·기여분 분리 / 미진 조직 실행력 / 전환체계 설계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5029200"/>
            <a:ext cx="11055096" cy="868680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5074920"/>
            <a:ext cx="10652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거버넌스 — 방향은 경영전략담당과 공동 수립(기 합의), 목표·집계는 경영관리 체계 연계(협의 추진). AX실은 실행 수단과 측정 로직 담당.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98BA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11   SO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로드맵과 종착점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’26 — 증명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52928" y="1965960"/>
            <a:ext cx="87690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7대 과제 가동 · Tier 1 확정실적(실측 1호 LOMA) · 공백 3개 과제화 · 검증체계 구축 — 최우선: 구매 CI, 판가·판촉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715768"/>
            <a:ext cx="1105509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834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’27 — 확장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52928" y="2834640"/>
            <a:ext cx="87690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Top-line 확장(가격·RM, 플랫폼 매출) 본격화 · BP 확산 · 전환체계 실행 · 현업 이양 개시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105509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703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’28 — 전환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2928" y="3703320"/>
            <a:ext cx="87690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AI 중심 운영체계 정착 — 수익구조 혁신의 상시 체계화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453128"/>
            <a:ext cx="1105509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5029200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8BA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종착점 — </a:t>
            </a:r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사업 복잡도 증가와 원가 증가의 비례 관계가 해소되어, 시황 변동에도 안정적으로 수익을 내는 사업 구조.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11055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LG Smart_H2.0" pitchFamily="34" charset="0"/>
                <a:ea typeface="LG Smart_H2.0" pitchFamily="34" charset="-122"/>
                <a:cs typeface="LG Smart_H2.0" pitchFamily="34" charset="-120"/>
              </a:rPr>
              <a:t>MS본부 AX 추진전략 v2.2 · AX/데이터플랫폼실 AX전략팀 · 2026.07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AX전략팀</dc:creator>
  <cp:lastModifiedBy>AX전략팀</cp:lastModifiedBy>
  <cp:revision>1</cp:revision>
  <dcterms:created xsi:type="dcterms:W3CDTF">2026-07-27T07:38:58Z</dcterms:created>
  <dcterms:modified xsi:type="dcterms:W3CDTF">2026-07-27T07:38:58Z</dcterms:modified>
</cp:coreProperties>
</file>